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February (กุมภาพันธ์)</c:v>
                </c:pt>
              </c:strCache>
            </c:strRef>
          </c:tx>
          <c:spPr>
            <a:solidFill>
              <a:srgbClr val="2980B9"/>
            </a:solidFill>
          </c:spPr>
          <c:cat>
            <c:strRef>
              <c:f>Sheet1!$A$2:$A$6</c:f>
              <c:strCache>
                <c:ptCount val="5"/>
                <c:pt idx="0">
                  <c:v>Sales
(ยอดขาย)</c:v>
                </c:pt>
                <c:pt idx="1">
                  <c:v>Items
(สินค้า)</c:v>
                </c:pt>
                <c:pt idx="2">
                  <c:v>Bills
(บิล)</c:v>
                </c:pt>
                <c:pt idx="3">
                  <c:v>Traffic
(ลูกค้า)</c:v>
                </c:pt>
                <c:pt idx="4">
                  <c:v>ATV
(ค่าเฉลี่ย)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98.65088333379269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March (มีนาคม)</c:v>
                </c:pt>
              </c:strCache>
            </c:strRef>
          </c:tx>
          <c:spPr>
            <a:solidFill>
              <a:srgbClr val="3498DB"/>
            </a:solidFill>
          </c:spPr>
          <c:cat>
            <c:strRef>
              <c:f>Sheet1!$A$2:$A$6</c:f>
              <c:strCache>
                <c:ptCount val="5"/>
                <c:pt idx="0">
                  <c:v>Sales
(ยอดขาย)</c:v>
                </c:pt>
                <c:pt idx="1">
                  <c:v>Items
(สินค้า)</c:v>
                </c:pt>
                <c:pt idx="2">
                  <c:v>Bills
(บิล)</c:v>
                </c:pt>
                <c:pt idx="3">
                  <c:v>Traffic
(ลูกค้า)</c:v>
                </c:pt>
                <c:pt idx="4">
                  <c:v>ATV
(ค่าเฉลี่ย)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69.41480629036738</c:v>
                </c:pt>
                <c:pt idx="1">
                  <c:v>70.61682242990655</c:v>
                </c:pt>
                <c:pt idx="2">
                  <c:v>68.47826086956522</c:v>
                </c:pt>
                <c:pt idx="3">
                  <c:v>82.36196319018406</c:v>
                </c:pt>
                <c:pt idx="4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900">
                    <a:solidFill>
                      <a:srgbClr val="34495E"/>
                    </a:solidFill>
                  </a:defRPr>
                </a:pPr>
                <a:r>
                  <a:t>Index (100 = Highest Value)</a:t>
                </a:r>
              </a:p>
              <a:p>
                <a:r>
                  <a:t>(ดัชนี: 100 = ค่าสูงสุด)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20.0"/>
      </c:valAx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980B9"/>
                </a:solidFill>
              </a:defRPr>
            </a:pPr>
            <a:r>
              <a:t>Sales Performance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5A5A6"/>
                </a:solidFill>
              </a:defRPr>
            </a:pPr>
            <a:r>
              <a:t>(การวิเคราะห์ผลการดำเนินงานด้านยอดขาย)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4495E"/>
                </a:solidFill>
              </a:defRPr>
            </a:pPr>
            <a:r>
              <a:t>February vs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5A5A6"/>
                </a:solidFill>
              </a:defRPr>
            </a:pPr>
            <a:r>
              <a:t>(กุมภาพันธ์ เทียบกับ มีนาคม 2026)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980B9"/>
                </a:solidFill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5A5A6"/>
                </a:solidFill>
              </a:defRPr>
            </a:pPr>
            <a:r>
              <a:t>(สรุปผู้บริหาร)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2860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500"/>
              </a:spcAft>
              <a:defRPr sz="1000">
                <a:solidFill>
                  <a:srgbClr val="34495E"/>
                </a:solidFill>
              </a:defRPr>
            </a:pPr>
            <a:r>
              <a:t>February Achievement</a:t>
            </a:r>
            <a:br/>
            <a:r>
              <a:t>(ผลงานเดือนกุมภาพันธ์)</a:t>
            </a:r>
          </a:p>
          <a:p>
            <a:pPr algn="ctr">
              <a:spcAft>
                <a:spcPts val="300"/>
              </a:spcAft>
              <a:defRPr sz="2000" b="1">
                <a:solidFill>
                  <a:srgbClr val="27AE60"/>
                </a:solidFill>
              </a:defRPr>
            </a:pPr>
            <a:r>
              <a:t>73.86%</a:t>
            </a:r>
          </a:p>
          <a:p>
            <a:pPr algn="ctr">
              <a:defRPr sz="800">
                <a:solidFill>
                  <a:srgbClr val="95A5A6"/>
                </a:solidFill>
              </a:defRPr>
            </a:pPr>
            <a:r>
              <a:t>of Target</a:t>
            </a:r>
            <a:br/>
            <a:r>
              <a:t>(ของเป้าหมาย)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371600"/>
            <a:ext cx="22860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500"/>
              </a:spcAft>
              <a:defRPr sz="1000">
                <a:solidFill>
                  <a:srgbClr val="34495E"/>
                </a:solidFill>
              </a:defRPr>
            </a:pPr>
            <a:r>
              <a:t>March Achievement</a:t>
            </a:r>
            <a:br/>
            <a:r>
              <a:t>(ผลงานเดือนมีนาคม)</a:t>
            </a:r>
          </a:p>
          <a:p>
            <a:pPr algn="ctr">
              <a:spcAft>
                <a:spcPts val="300"/>
              </a:spcAft>
              <a:defRPr sz="2000" b="1">
                <a:solidFill>
                  <a:srgbClr val="E74C3C"/>
                </a:solidFill>
              </a:defRPr>
            </a:pPr>
            <a:r>
              <a:t>56.97%</a:t>
            </a:r>
          </a:p>
          <a:p>
            <a:pPr algn="ctr">
              <a:defRPr sz="800">
                <a:solidFill>
                  <a:srgbClr val="95A5A6"/>
                </a:solidFill>
              </a:defRPr>
            </a:pPr>
            <a:r>
              <a:t>of Target</a:t>
            </a:r>
            <a:br/>
            <a:r>
              <a:t>(ของเป้าหมาย)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371600"/>
            <a:ext cx="22860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500"/>
              </a:spcAft>
              <a:defRPr sz="1000">
                <a:solidFill>
                  <a:srgbClr val="34495E"/>
                </a:solidFill>
              </a:defRPr>
            </a:pPr>
            <a:r>
              <a:t>Average Transaction</a:t>
            </a:r>
            <a:br/>
            <a:r>
              <a:t>(ค่าเฉลี่ยต่อบิล)</a:t>
            </a:r>
          </a:p>
          <a:p>
            <a:pPr algn="ctr">
              <a:spcAft>
                <a:spcPts val="300"/>
              </a:spcAft>
              <a:defRPr sz="2000" b="1">
                <a:solidFill>
                  <a:srgbClr val="2980B9"/>
                </a:solidFill>
              </a:defRPr>
            </a:pPr>
            <a:r>
              <a:t>+1.4%</a:t>
            </a:r>
          </a:p>
          <a:p>
            <a:pPr algn="ctr">
              <a:defRPr sz="800">
                <a:solidFill>
                  <a:srgbClr val="95A5A6"/>
                </a:solidFill>
              </a:defRPr>
            </a:pPr>
            <a:r>
              <a:t>Month-over-Month</a:t>
            </a:r>
            <a:br/>
            <a:r>
              <a:t>(เทียบเดือนก่อน)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4495E"/>
                </a:solidFill>
              </a:defRPr>
            </a:pPr>
            <a:r>
              <a:t>• February benefited from Chinese New Year &amp; Valentine's Day festivities</a:t>
            </a:r>
          </a:p>
          <a:p>
            <a:pPr>
              <a:spcAft>
                <a:spcPts val="300"/>
              </a:spcAft>
              <a:defRPr sz="1100">
                <a:solidFill>
                  <a:srgbClr val="34495E"/>
                </a:solidFill>
              </a:defRPr>
            </a:pPr>
            <a:r>
              <a:t>  (กุมภาพันธ์ได้รับประโยชน์จากเทศกาลตรุษจีนและวาเลนไทน์)</a:t>
            </a:r>
          </a:p>
          <a:p>
            <a:pPr>
              <a:spcAft>
                <a:spcPts val="300"/>
              </a:spcAft>
              <a:defRPr sz="1100">
                <a:solidFill>
                  <a:srgbClr val="34495E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4495E"/>
                </a:solidFill>
              </a:defRPr>
            </a:pPr>
            <a:r>
              <a:t>• March promotions showed lower customer interest due to repetitive giveaways</a:t>
            </a:r>
          </a:p>
          <a:p>
            <a:pPr>
              <a:spcAft>
                <a:spcPts val="300"/>
              </a:spcAft>
              <a:defRPr sz="1100">
                <a:solidFill>
                  <a:srgbClr val="34495E"/>
                </a:solidFill>
              </a:defRPr>
            </a:pPr>
            <a:r>
              <a:t>  (โปรโมชั่นเดือนมีนาคมมีความสนใจน้อยลงเนื่องจากของแถมซ้ำซาก)</a:t>
            </a:r>
          </a:p>
          <a:p>
            <a:pPr>
              <a:spcAft>
                <a:spcPts val="300"/>
              </a:spcAft>
              <a:defRPr sz="1100">
                <a:solidFill>
                  <a:srgbClr val="34495E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4495E"/>
                </a:solidFill>
              </a:defRPr>
            </a:pPr>
            <a:r>
              <a:t>• Economic factors and pre-Songkran savings affected spending patterns</a:t>
            </a:r>
          </a:p>
          <a:p>
            <a:pPr>
              <a:spcAft>
                <a:spcPts val="300"/>
              </a:spcAft>
              <a:defRPr sz="1100">
                <a:solidFill>
                  <a:srgbClr val="34495E"/>
                </a:solidFill>
              </a:defRPr>
            </a:pPr>
            <a:r>
              <a:t>  (ปัจจัยทางเศรษฐกิจและการออมเงินก่อนสงกรานต์ส่งผลต่อรูปแบบการใช้จ่าย)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980B9"/>
                </a:solidFill>
              </a:defRPr>
            </a:pPr>
            <a:r>
              <a:t>February 2026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5A5A6"/>
                </a:solidFill>
              </a:defRPr>
            </a:pPr>
            <a:r>
              <a:t>(ผลงานเดือนกุมภาพันธ์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828800" cy="1097280"/>
          </a:xfrm>
          <a:prstGeom prst="roundRect">
            <a:avLst/>
          </a:prstGeom>
          <a:solidFill>
            <a:srgbClr val="ECF0F1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spcAft>
                <a:spcPts val="200"/>
              </a:spcAft>
              <a:defRPr sz="1000" b="1">
                <a:solidFill>
                  <a:srgbClr val="34495E"/>
                </a:solidFill>
              </a:defRPr>
            </a:pPr>
            <a:r>
              <a:t>Target</a:t>
            </a:r>
          </a:p>
          <a:p>
            <a:pPr algn="ctr">
              <a:spcAft>
                <a:spcPts val="800"/>
              </a:spcAft>
              <a:defRPr sz="800">
                <a:solidFill>
                  <a:srgbClr val="95A5A6"/>
                </a:solidFill>
              </a:defRPr>
            </a:pPr>
            <a:r>
              <a:t>(เป้าหมาย)</a:t>
            </a:r>
          </a:p>
          <a:p>
            <a:pPr algn="ctr">
              <a:defRPr sz="1600" b="1">
                <a:solidFill>
                  <a:srgbClr val="2980B9"/>
                </a:solidFill>
              </a:defRPr>
            </a:pPr>
            <a:r>
              <a:t>฿1,070,000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097280"/>
            <a:ext cx="1828800" cy="1097280"/>
          </a:xfrm>
          <a:prstGeom prst="roundRect">
            <a:avLst/>
          </a:prstGeom>
          <a:solidFill>
            <a:srgbClr val="ECF0F1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spcAft>
                <a:spcPts val="200"/>
              </a:spcAft>
              <a:defRPr sz="1000" b="1">
                <a:solidFill>
                  <a:srgbClr val="34495E"/>
                </a:solidFill>
              </a:defRPr>
            </a:pPr>
            <a:r>
              <a:t>Actual Sales</a:t>
            </a:r>
          </a:p>
          <a:p>
            <a:pPr algn="ctr">
              <a:spcAft>
                <a:spcPts val="800"/>
              </a:spcAft>
              <a:defRPr sz="800">
                <a:solidFill>
                  <a:srgbClr val="95A5A6"/>
                </a:solidFill>
              </a:defRPr>
            </a:pPr>
            <a:r>
              <a:t>(ยอดขายจริง)</a:t>
            </a:r>
          </a:p>
          <a:p>
            <a:pPr algn="ctr">
              <a:defRPr sz="1600" b="1">
                <a:solidFill>
                  <a:srgbClr val="2980B9"/>
                </a:solidFill>
              </a:defRPr>
            </a:pPr>
            <a:r>
              <a:t>฿790,319.50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097280"/>
            <a:ext cx="1828800" cy="1097280"/>
          </a:xfrm>
          <a:prstGeom prst="roundRect">
            <a:avLst/>
          </a:prstGeom>
          <a:solidFill>
            <a:srgbClr val="ECF0F1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spcAft>
                <a:spcPts val="200"/>
              </a:spcAft>
              <a:defRPr sz="1000" b="1">
                <a:solidFill>
                  <a:srgbClr val="34495E"/>
                </a:solidFill>
              </a:defRPr>
            </a:pPr>
            <a:r>
              <a:t>Achievement</a:t>
            </a:r>
          </a:p>
          <a:p>
            <a:pPr algn="ctr">
              <a:spcAft>
                <a:spcPts val="800"/>
              </a:spcAft>
              <a:defRPr sz="800">
                <a:solidFill>
                  <a:srgbClr val="95A5A6"/>
                </a:solidFill>
              </a:defRPr>
            </a:pPr>
            <a:r>
              <a:t>(ทำได้)</a:t>
            </a:r>
          </a:p>
          <a:p>
            <a:pPr algn="ctr">
              <a:defRPr sz="1600" b="1">
                <a:solidFill>
                  <a:srgbClr val="2980B9"/>
                </a:solidFill>
              </a:defRPr>
            </a:pPr>
            <a:r>
              <a:t>73.86%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097280"/>
            <a:ext cx="1828800" cy="1097280"/>
          </a:xfrm>
          <a:prstGeom prst="roundRect">
            <a:avLst/>
          </a:prstGeom>
          <a:solidFill>
            <a:srgbClr val="ECF0F1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spcAft>
                <a:spcPts val="200"/>
              </a:spcAft>
              <a:defRPr sz="1000" b="1">
                <a:solidFill>
                  <a:srgbClr val="34495E"/>
                </a:solidFill>
              </a:defRPr>
            </a:pPr>
            <a:r>
              <a:t>Store Traffic</a:t>
            </a:r>
          </a:p>
          <a:p>
            <a:pPr algn="ctr">
              <a:spcAft>
                <a:spcPts val="800"/>
              </a:spcAft>
              <a:defRPr sz="800">
                <a:solidFill>
                  <a:srgbClr val="95A5A6"/>
                </a:solidFill>
              </a:defRPr>
            </a:pPr>
            <a:r>
              <a:t>(ลูกค้าเข้าร้าน)</a:t>
            </a:r>
          </a:p>
          <a:p>
            <a:pPr algn="ctr">
              <a:defRPr sz="1600" b="1">
                <a:solidFill>
                  <a:srgbClr val="2980B9"/>
                </a:solidFill>
              </a:defRPr>
            </a:pPr>
            <a:r>
              <a:t>1,304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60320"/>
            <a:ext cx="1828800" cy="1097280"/>
          </a:xfrm>
          <a:prstGeom prst="roundRect">
            <a:avLst/>
          </a:prstGeom>
          <a:solidFill>
            <a:srgbClr val="ECF0F1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spcAft>
                <a:spcPts val="200"/>
              </a:spcAft>
              <a:defRPr sz="1000" b="1">
                <a:solidFill>
                  <a:srgbClr val="34495E"/>
                </a:solidFill>
              </a:defRPr>
            </a:pPr>
            <a:r>
              <a:t>Total Items Sold</a:t>
            </a:r>
          </a:p>
          <a:p>
            <a:pPr algn="ctr">
              <a:spcAft>
                <a:spcPts val="800"/>
              </a:spcAft>
              <a:defRPr sz="800">
                <a:solidFill>
                  <a:srgbClr val="95A5A6"/>
                </a:solidFill>
              </a:defRPr>
            </a:pPr>
            <a:r>
              <a:t>(จำนวนสินค้าที่ขายได้)</a:t>
            </a:r>
          </a:p>
          <a:p>
            <a:pPr algn="ctr">
              <a:defRPr sz="1600" b="1">
                <a:solidFill>
                  <a:srgbClr val="2980B9"/>
                </a:solidFill>
              </a:defRPr>
            </a:pPr>
            <a:r>
              <a:t>2,675 pcs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2560320"/>
            <a:ext cx="1828800" cy="1097280"/>
          </a:xfrm>
          <a:prstGeom prst="roundRect">
            <a:avLst/>
          </a:prstGeom>
          <a:solidFill>
            <a:srgbClr val="ECF0F1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spcAft>
                <a:spcPts val="200"/>
              </a:spcAft>
              <a:defRPr sz="1000" b="1">
                <a:solidFill>
                  <a:srgbClr val="34495E"/>
                </a:solidFill>
              </a:defRPr>
            </a:pPr>
            <a:r>
              <a:t>Total Bills</a:t>
            </a:r>
          </a:p>
          <a:p>
            <a:pPr algn="ctr">
              <a:spcAft>
                <a:spcPts val="800"/>
              </a:spcAft>
              <a:defRPr sz="800">
                <a:solidFill>
                  <a:srgbClr val="95A5A6"/>
                </a:solidFill>
              </a:defRPr>
            </a:pPr>
            <a:r>
              <a:t>(จำนวนบิล)</a:t>
            </a:r>
          </a:p>
          <a:p>
            <a:pPr algn="ctr">
              <a:defRPr sz="1600" b="1">
                <a:solidFill>
                  <a:srgbClr val="2980B9"/>
                </a:solidFill>
              </a:defRPr>
            </a:pPr>
            <a:r>
              <a:t>552 bills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560320"/>
            <a:ext cx="1828800" cy="1097280"/>
          </a:xfrm>
          <a:prstGeom prst="roundRect">
            <a:avLst/>
          </a:prstGeom>
          <a:solidFill>
            <a:srgbClr val="ECF0F1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spcAft>
                <a:spcPts val="200"/>
              </a:spcAft>
              <a:defRPr sz="1000" b="1">
                <a:solidFill>
                  <a:srgbClr val="34495E"/>
                </a:solidFill>
              </a:defRPr>
            </a:pPr>
            <a:r>
              <a:t>ATV</a:t>
            </a:r>
          </a:p>
          <a:p>
            <a:pPr algn="ctr">
              <a:spcAft>
                <a:spcPts val="800"/>
              </a:spcAft>
              <a:defRPr sz="800">
                <a:solidFill>
                  <a:srgbClr val="95A5A6"/>
                </a:solidFill>
              </a:defRPr>
            </a:pPr>
            <a:r>
              <a:t>(ค่าเฉลี่ยต่อบิล)</a:t>
            </a:r>
          </a:p>
          <a:p>
            <a:pPr algn="ctr">
              <a:defRPr sz="1600" b="1">
                <a:solidFill>
                  <a:srgbClr val="2980B9"/>
                </a:solidFill>
              </a:defRPr>
            </a:pPr>
            <a:r>
              <a:t>฿1,431.74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2560320"/>
            <a:ext cx="1828800" cy="1097280"/>
          </a:xfrm>
          <a:prstGeom prst="roundRect">
            <a:avLst/>
          </a:prstGeom>
          <a:solidFill>
            <a:srgbClr val="ECF0F1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spcAft>
                <a:spcPts val="200"/>
              </a:spcAft>
              <a:defRPr sz="1000" b="1">
                <a:solidFill>
                  <a:srgbClr val="34495E"/>
                </a:solidFill>
              </a:defRPr>
            </a:pPr>
            <a:r>
              <a:t>UPT</a:t>
            </a:r>
          </a:p>
          <a:p>
            <a:pPr algn="ctr">
              <a:spcAft>
                <a:spcPts val="800"/>
              </a:spcAft>
              <a:defRPr sz="800">
                <a:solidFill>
                  <a:srgbClr val="95A5A6"/>
                </a:solidFill>
              </a:defRPr>
            </a:pPr>
            <a:r>
              <a:t>(ชิ้นต่อบิล)</a:t>
            </a:r>
          </a:p>
          <a:p>
            <a:pPr algn="ctr">
              <a:defRPr sz="1600" b="1">
                <a:solidFill>
                  <a:srgbClr val="2980B9"/>
                </a:solidFill>
              </a:defRPr>
            </a:pPr>
            <a:r>
              <a:t>4.85 pcs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980B9"/>
                </a:solidFill>
              </a:defRPr>
            </a:pPr>
            <a:r>
              <a:t>Key Promotions (โปรโมชั่นหลัก)</a:t>
            </a:r>
          </a:p>
          <a:p>
            <a:pPr>
              <a:spcAft>
                <a:spcPts val="200"/>
              </a:spcAft>
              <a:defRPr sz="1000">
                <a:solidFill>
                  <a:srgbClr val="34495E"/>
                </a:solidFill>
              </a:defRPr>
            </a:pPr>
            <a:r>
              <a:t>✓ Free Pencil Pouch (฿1,500 purchase) | ✓ Free Pods (฿2,000 purchase)</a:t>
            </a:r>
          </a:p>
          <a:p>
            <a:pPr>
              <a:spcAft>
                <a:spcPts val="200"/>
              </a:spcAft>
              <a:defRPr sz="1000">
                <a:solidFill>
                  <a:srgbClr val="34495E"/>
                </a:solidFill>
              </a:defRPr>
            </a:pPr>
            <a:r>
              <a:t>✓ Special Doodle Engraving + Name (Bundle set + Boot purchase)</a:t>
            </a:r>
          </a:p>
          <a:p>
            <a:pPr>
              <a:spcAft>
                <a:spcPts val="200"/>
              </a:spcAft>
              <a:defRPr sz="1000">
                <a:solidFill>
                  <a:srgbClr val="34495E"/>
                </a:solidFill>
              </a:defRPr>
            </a:pPr>
            <a:r>
              <a:t>→ High interest due to cute Pods design and exclusive engraving feature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980B9"/>
                </a:solidFill>
              </a:defRPr>
            </a:pPr>
            <a:r>
              <a:t>March 2026 Performance (1-29)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5A5A6"/>
                </a:solidFill>
              </a:defRPr>
            </a:pPr>
            <a:r>
              <a:t>(ผลงานเดือนมีนาคม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828800" cy="1097280"/>
          </a:xfrm>
          <a:prstGeom prst="roundRect">
            <a:avLst/>
          </a:prstGeom>
          <a:solidFill>
            <a:srgbClr val="ECF0F1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spcAft>
                <a:spcPts val="200"/>
              </a:spcAft>
              <a:defRPr sz="1000" b="1">
                <a:solidFill>
                  <a:srgbClr val="34495E"/>
                </a:solidFill>
              </a:defRPr>
            </a:pPr>
            <a:r>
              <a:t>Actual Sales</a:t>
            </a:r>
          </a:p>
          <a:p>
            <a:pPr algn="ctr">
              <a:spcAft>
                <a:spcPts val="800"/>
              </a:spcAft>
              <a:defRPr sz="800">
                <a:solidFill>
                  <a:srgbClr val="95A5A6"/>
                </a:solidFill>
              </a:defRPr>
            </a:pPr>
            <a:r>
              <a:t>(ยอดขายจริง)</a:t>
            </a:r>
          </a:p>
          <a:p>
            <a:pPr algn="ctr">
              <a:defRPr sz="1600" b="1">
                <a:solidFill>
                  <a:srgbClr val="E74C3C"/>
                </a:solidFill>
              </a:defRPr>
            </a:pPr>
            <a:r>
              <a:t>฿548,598.75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097280"/>
            <a:ext cx="1828800" cy="1097280"/>
          </a:xfrm>
          <a:prstGeom prst="roundRect">
            <a:avLst/>
          </a:prstGeom>
          <a:solidFill>
            <a:srgbClr val="ECF0F1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spcAft>
                <a:spcPts val="200"/>
              </a:spcAft>
              <a:defRPr sz="1000" b="1">
                <a:solidFill>
                  <a:srgbClr val="34495E"/>
                </a:solidFill>
              </a:defRPr>
            </a:pPr>
            <a:r>
              <a:t>Achievement</a:t>
            </a:r>
          </a:p>
          <a:p>
            <a:pPr algn="ctr">
              <a:spcAft>
                <a:spcPts val="800"/>
              </a:spcAft>
              <a:defRPr sz="800">
                <a:solidFill>
                  <a:srgbClr val="95A5A6"/>
                </a:solidFill>
              </a:defRPr>
            </a:pPr>
            <a:r>
              <a:t>(ทำได้)</a:t>
            </a:r>
          </a:p>
          <a:p>
            <a:pPr algn="ctr">
              <a:defRPr sz="1600" b="1">
                <a:solidFill>
                  <a:srgbClr val="E74C3C"/>
                </a:solidFill>
              </a:defRPr>
            </a:pPr>
            <a:r>
              <a:t>56.97%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097280"/>
            <a:ext cx="1828800" cy="1097280"/>
          </a:xfrm>
          <a:prstGeom prst="roundRect">
            <a:avLst/>
          </a:prstGeom>
          <a:solidFill>
            <a:srgbClr val="ECF0F1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spcAft>
                <a:spcPts val="200"/>
              </a:spcAft>
              <a:defRPr sz="1000" b="1">
                <a:solidFill>
                  <a:srgbClr val="34495E"/>
                </a:solidFill>
              </a:defRPr>
            </a:pPr>
            <a:r>
              <a:t>Store Traffic</a:t>
            </a:r>
          </a:p>
          <a:p>
            <a:pPr algn="ctr">
              <a:spcAft>
                <a:spcPts val="800"/>
              </a:spcAft>
              <a:defRPr sz="800">
                <a:solidFill>
                  <a:srgbClr val="95A5A6"/>
                </a:solidFill>
              </a:defRPr>
            </a:pPr>
            <a:r>
              <a:t>(ลูกค้าเข้าร้าน)</a:t>
            </a:r>
          </a:p>
          <a:p>
            <a:pPr algn="ctr">
              <a:defRPr sz="1600" b="1">
                <a:solidFill>
                  <a:srgbClr val="E74C3C"/>
                </a:solidFill>
              </a:defRPr>
            </a:pPr>
            <a:r>
              <a:t>1,074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60320"/>
            <a:ext cx="1828800" cy="1097280"/>
          </a:xfrm>
          <a:prstGeom prst="roundRect">
            <a:avLst/>
          </a:prstGeom>
          <a:solidFill>
            <a:srgbClr val="ECF0F1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spcAft>
                <a:spcPts val="200"/>
              </a:spcAft>
              <a:defRPr sz="1000" b="1">
                <a:solidFill>
                  <a:srgbClr val="34495E"/>
                </a:solidFill>
              </a:defRPr>
            </a:pPr>
            <a:r>
              <a:t>Total Items Sold</a:t>
            </a:r>
          </a:p>
          <a:p>
            <a:pPr algn="ctr">
              <a:spcAft>
                <a:spcPts val="800"/>
              </a:spcAft>
              <a:defRPr sz="800">
                <a:solidFill>
                  <a:srgbClr val="95A5A6"/>
                </a:solidFill>
              </a:defRPr>
            </a:pPr>
            <a:r>
              <a:t>(จำนวนสินค้าที่ขายได้)</a:t>
            </a:r>
          </a:p>
          <a:p>
            <a:pPr algn="ctr">
              <a:defRPr sz="1600" b="1">
                <a:solidFill>
                  <a:srgbClr val="2980B9"/>
                </a:solidFill>
              </a:defRPr>
            </a:pPr>
            <a:r>
              <a:t>1,889 pcs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2560320"/>
            <a:ext cx="1828800" cy="1097280"/>
          </a:xfrm>
          <a:prstGeom prst="roundRect">
            <a:avLst/>
          </a:prstGeom>
          <a:solidFill>
            <a:srgbClr val="ECF0F1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spcAft>
                <a:spcPts val="200"/>
              </a:spcAft>
              <a:defRPr sz="1000" b="1">
                <a:solidFill>
                  <a:srgbClr val="34495E"/>
                </a:solidFill>
              </a:defRPr>
            </a:pPr>
            <a:r>
              <a:t>Total Bills</a:t>
            </a:r>
          </a:p>
          <a:p>
            <a:pPr algn="ctr">
              <a:spcAft>
                <a:spcPts val="800"/>
              </a:spcAft>
              <a:defRPr sz="800">
                <a:solidFill>
                  <a:srgbClr val="95A5A6"/>
                </a:solidFill>
              </a:defRPr>
            </a:pPr>
            <a:r>
              <a:t>(จำนวนบิล)</a:t>
            </a:r>
          </a:p>
          <a:p>
            <a:pPr algn="ctr">
              <a:defRPr sz="1600" b="1">
                <a:solidFill>
                  <a:srgbClr val="2980B9"/>
                </a:solidFill>
              </a:defRPr>
            </a:pPr>
            <a:r>
              <a:t>378 bills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560320"/>
            <a:ext cx="1828800" cy="1097280"/>
          </a:xfrm>
          <a:prstGeom prst="roundRect">
            <a:avLst/>
          </a:prstGeom>
          <a:solidFill>
            <a:srgbClr val="ECF0F1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spcAft>
                <a:spcPts val="200"/>
              </a:spcAft>
              <a:defRPr sz="1000" b="1">
                <a:solidFill>
                  <a:srgbClr val="34495E"/>
                </a:solidFill>
              </a:defRPr>
            </a:pPr>
            <a:r>
              <a:t>ATV</a:t>
            </a:r>
          </a:p>
          <a:p>
            <a:pPr algn="ctr">
              <a:spcAft>
                <a:spcPts val="800"/>
              </a:spcAft>
              <a:defRPr sz="800">
                <a:solidFill>
                  <a:srgbClr val="95A5A6"/>
                </a:solidFill>
              </a:defRPr>
            </a:pPr>
            <a:r>
              <a:t>(ค่าเฉลี่ยต่อบิล)</a:t>
            </a:r>
          </a:p>
          <a:p>
            <a:pPr algn="ctr">
              <a:defRPr sz="1600" b="1">
                <a:solidFill>
                  <a:srgbClr val="2980B9"/>
                </a:solidFill>
              </a:defRPr>
            </a:pPr>
            <a:r>
              <a:t>฿1,451.32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2560320"/>
            <a:ext cx="1828800" cy="1097280"/>
          </a:xfrm>
          <a:prstGeom prst="roundRect">
            <a:avLst/>
          </a:prstGeom>
          <a:solidFill>
            <a:srgbClr val="ECF0F1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spcAft>
                <a:spcPts val="200"/>
              </a:spcAft>
              <a:defRPr sz="1000" b="1">
                <a:solidFill>
                  <a:srgbClr val="34495E"/>
                </a:solidFill>
              </a:defRPr>
            </a:pPr>
            <a:r>
              <a:t>UPT</a:t>
            </a:r>
          </a:p>
          <a:p>
            <a:pPr algn="ctr">
              <a:spcAft>
                <a:spcPts val="800"/>
              </a:spcAft>
              <a:defRPr sz="800">
                <a:solidFill>
                  <a:srgbClr val="95A5A6"/>
                </a:solidFill>
              </a:defRPr>
            </a:pPr>
            <a:r>
              <a:t>(ชิ้นต่อบิล)</a:t>
            </a:r>
          </a:p>
          <a:p>
            <a:pPr algn="ctr">
              <a:defRPr sz="1600" b="1">
                <a:solidFill>
                  <a:srgbClr val="2980B9"/>
                </a:solidFill>
              </a:defRPr>
            </a:pPr>
            <a:r>
              <a:t>5.0 pcs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980B9"/>
                </a:solidFill>
              </a:defRPr>
            </a:pPr>
            <a:r>
              <a:t>Key Promotions (โปรโมชั่นหลัก)</a:t>
            </a:r>
          </a:p>
          <a:p>
            <a:pPr>
              <a:spcAft>
                <a:spcPts val="200"/>
              </a:spcAft>
              <a:defRPr sz="1000">
                <a:solidFill>
                  <a:srgbClr val="34495E"/>
                </a:solidFill>
              </a:defRPr>
            </a:pPr>
            <a:r>
              <a:t>Free Jelly Pouch/Shop Tote/Clean Lens (฿1,800 purchase)</a:t>
            </a:r>
          </a:p>
          <a:p>
            <a:pPr>
              <a:spcAft>
                <a:spcPts val="200"/>
              </a:spcAft>
              <a:defRPr sz="1000">
                <a:solidFill>
                  <a:srgbClr val="34495E"/>
                </a:solidFill>
              </a:defRPr>
            </a:pPr>
            <a:r>
              <a:t>Free Boot+ (32oz Bundle set purchase, Mar 20 - Apr 19)</a:t>
            </a:r>
          </a:p>
          <a:p>
            <a:pPr>
              <a:spcAft>
                <a:spcPts val="200"/>
              </a:spcAft>
              <a:defRPr sz="1000">
                <a:solidFill>
                  <a:srgbClr val="34495E"/>
                </a:solidFill>
              </a:defRPr>
            </a:pPr>
            <a:r>
              <a:t>⚠ Lower interest: repetitive giveaways &amp; higher threshold vs. average spend (฿1,400)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980B9"/>
                </a:solidFill>
              </a:defRPr>
            </a:pPr>
            <a:r>
              <a:t>Month-over-Month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5A5A6"/>
                </a:solidFill>
              </a:defRPr>
            </a:pPr>
            <a:r>
              <a:t>(เปรียบเทียบรายเดือน)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371600"/>
          <a:ext cx="82296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95A5A6"/>
                </a:solidFill>
              </a:defRPr>
            </a:pPr>
            <a:r>
              <a:t>Note: Values are normalized to 100 (highest value in each category) for visual comparison across different metrics. Each metric uses its own scale. (หมายเหตุ: ค่าต่างๆ ถูกปรับให้เป็น 100 สำหรับการเปรียบเทียบ แต่ละตัวชี้วัดใช้มาตราส่วนของตัวเอง)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980B9"/>
                </a:solidFill>
              </a:defRPr>
            </a:pPr>
            <a:r>
              <a:t>Key Insights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5A5A6"/>
                </a:solidFill>
              </a:defRPr>
            </a:pPr>
            <a:r>
              <a:t>(ข้อมูลเชิงลึกและข้อเสนอแนะ)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980B9"/>
                </a:solidFill>
              </a:defRPr>
            </a:pPr>
            <a:r>
              <a:t>Key Insights (ข้อมูลเชิงลึก)</a:t>
            </a:r>
          </a:p>
          <a:p>
            <a:pPr>
              <a:spcAft>
                <a:spcPts val="200"/>
              </a:spcAft>
              <a:defRPr sz="1100" b="1">
                <a:solidFill>
                  <a:srgbClr val="34495E"/>
                </a:solidFill>
              </a:defRPr>
            </a:pPr>
            <a:r>
              <a:t>🎯 Festival Impact ผลกระทบจากเทศกาล</a:t>
            </a:r>
          </a:p>
          <a:p>
            <a:pPr>
              <a:spcAft>
                <a:spcPts val="800"/>
              </a:spcAft>
              <a:defRPr sz="900">
                <a:solidFill>
                  <a:srgbClr val="95A5A6"/>
                </a:solidFill>
              </a:defRPr>
            </a:pPr>
            <a:r>
              <a:t>   (Chinese New Year &amp; Valentine's drove 17% higher achievement in Feb)</a:t>
            </a:r>
          </a:p>
          <a:p>
            <a:pPr>
              <a:spcAft>
                <a:spcPts val="200"/>
              </a:spcAft>
              <a:defRPr sz="1100" b="1">
                <a:solidFill>
                  <a:srgbClr val="34495E"/>
                </a:solidFill>
              </a:defRPr>
            </a:pPr>
            <a:r>
              <a:t>📊 Promotion Fatigue ความเบื่อหน่ายจากโปรโมชั่น</a:t>
            </a:r>
          </a:p>
          <a:p>
            <a:pPr>
              <a:spcAft>
                <a:spcPts val="800"/>
              </a:spcAft>
              <a:defRPr sz="900">
                <a:solidFill>
                  <a:srgbClr val="95A5A6"/>
                </a:solidFill>
              </a:defRPr>
            </a:pPr>
            <a:r>
              <a:t>   (Repetitive giveaways (shop tote, jelly pouch) reduced March interest)</a:t>
            </a:r>
          </a:p>
          <a:p>
            <a:pPr>
              <a:spcAft>
                <a:spcPts val="200"/>
              </a:spcAft>
              <a:defRPr sz="1100" b="1">
                <a:solidFill>
                  <a:srgbClr val="34495E"/>
                </a:solidFill>
              </a:defRPr>
            </a:pPr>
            <a:r>
              <a:t>💰 Price Threshold เกณฑ์ราคา</a:t>
            </a:r>
          </a:p>
          <a:p>
            <a:pPr>
              <a:spcAft>
                <a:spcPts val="800"/>
              </a:spcAft>
              <a:defRPr sz="900">
                <a:solidFill>
                  <a:srgbClr val="95A5A6"/>
                </a:solidFill>
              </a:defRPr>
            </a:pPr>
            <a:r>
              <a:t>   (฿1,800 threshold exceeds avg. spend (฿1,400), limiting conversion)</a:t>
            </a:r>
          </a:p>
          <a:p>
            <a:pPr>
              <a:spcAft>
                <a:spcPts val="200"/>
              </a:spcAft>
              <a:defRPr sz="1100" b="1">
                <a:solidFill>
                  <a:srgbClr val="34495E"/>
                </a:solidFill>
              </a:defRPr>
            </a:pPr>
            <a:r>
              <a:t>🌍 External Factors ปัจจัยภายนอก</a:t>
            </a:r>
          </a:p>
          <a:p>
            <a:pPr>
              <a:spcAft>
                <a:spcPts val="800"/>
              </a:spcAft>
              <a:defRPr sz="900">
                <a:solidFill>
                  <a:srgbClr val="95A5A6"/>
                </a:solidFill>
              </a:defRPr>
            </a:pPr>
            <a:r>
              <a:t>   (Economic conditions, war concerns, fuel prices affected spending)</a:t>
            </a:r>
          </a:p>
          <a:p>
            <a:pPr>
              <a:spcAft>
                <a:spcPts val="200"/>
              </a:spcAft>
              <a:defRPr sz="1100" b="1">
                <a:solidFill>
                  <a:srgbClr val="34495E"/>
                </a:solidFill>
              </a:defRPr>
            </a:pPr>
            <a:r>
              <a:t>✈️ Pre-Songkran Saving การออมก่อนสงกรานต์</a:t>
            </a:r>
          </a:p>
          <a:p>
            <a:pPr>
              <a:spcAft>
                <a:spcPts val="800"/>
              </a:spcAft>
              <a:defRPr sz="900">
                <a:solidFill>
                  <a:srgbClr val="95A5A6"/>
                </a:solidFill>
              </a:defRPr>
            </a:pPr>
            <a:r>
              <a:t>   (Customers saving for holiday travel reduced discretionary spending)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7AE60"/>
                </a:solidFill>
              </a:defRPr>
            </a:pPr>
            <a:r>
              <a:t>Recommendations (ข้อเสนอแนะ)</a:t>
            </a:r>
          </a:p>
          <a:p>
            <a:pPr>
              <a:spcAft>
                <a:spcPts val="200"/>
              </a:spcAft>
              <a:defRPr sz="1100" b="1">
                <a:solidFill>
                  <a:srgbClr val="34495E"/>
                </a:solidFill>
              </a:defRPr>
            </a:pPr>
            <a:r>
              <a:t>🎁 Fresh Incentives สิ่งจูงใจใหม่</a:t>
            </a:r>
          </a:p>
          <a:p>
            <a:pPr>
              <a:spcAft>
                <a:spcPts val="800"/>
              </a:spcAft>
              <a:defRPr sz="900">
                <a:solidFill>
                  <a:srgbClr val="95A5A6"/>
                </a:solidFill>
              </a:defRPr>
            </a:pPr>
            <a:r>
              <a:t>   (Introduce new, desirable giveaways to reignite interest)</a:t>
            </a:r>
          </a:p>
          <a:p>
            <a:pPr>
              <a:spcAft>
                <a:spcPts val="200"/>
              </a:spcAft>
              <a:defRPr sz="1100" b="1">
                <a:solidFill>
                  <a:srgbClr val="34495E"/>
                </a:solidFill>
              </a:defRPr>
            </a:pPr>
            <a:r>
              <a:t>💵 Tiered Pricing ราคาแบบขั้นบันได</a:t>
            </a:r>
          </a:p>
          <a:p>
            <a:pPr>
              <a:spcAft>
                <a:spcPts val="800"/>
              </a:spcAft>
              <a:defRPr sz="900">
                <a:solidFill>
                  <a:srgbClr val="95A5A6"/>
                </a:solidFill>
              </a:defRPr>
            </a:pPr>
            <a:r>
              <a:t>   (Create ฿1,200-1,500-1,800 tiers matching customer spend patterns)</a:t>
            </a:r>
          </a:p>
          <a:p>
            <a:pPr>
              <a:spcAft>
                <a:spcPts val="200"/>
              </a:spcAft>
              <a:defRPr sz="1100" b="1">
                <a:solidFill>
                  <a:srgbClr val="34495E"/>
                </a:solidFill>
              </a:defRPr>
            </a:pPr>
            <a:r>
              <a:t>📦 Product Mix การผสมผสานสินค้า</a:t>
            </a:r>
          </a:p>
          <a:p>
            <a:pPr>
              <a:spcAft>
                <a:spcPts val="800"/>
              </a:spcAft>
              <a:defRPr sz="900">
                <a:solidFill>
                  <a:srgbClr val="95A5A6"/>
                </a:solidFill>
              </a:defRPr>
            </a:pPr>
            <a:r>
              <a:t>   (Add merch/accessories for easy upselling to threshold)</a:t>
            </a:r>
          </a:p>
          <a:p>
            <a:pPr>
              <a:spcAft>
                <a:spcPts val="200"/>
              </a:spcAft>
              <a:defRPr sz="1100" b="1">
                <a:solidFill>
                  <a:srgbClr val="34495E"/>
                </a:solidFill>
              </a:defRPr>
            </a:pPr>
            <a:r>
              <a:t>🎪 Event Marketing การตลาดเชิงกิจกรรม</a:t>
            </a:r>
          </a:p>
          <a:p>
            <a:pPr>
              <a:spcAft>
                <a:spcPts val="800"/>
              </a:spcAft>
              <a:defRPr sz="900">
                <a:solidFill>
                  <a:srgbClr val="95A5A6"/>
                </a:solidFill>
              </a:defRPr>
            </a:pPr>
            <a:r>
              <a:t>   (Create micro-events to drive foot traffic during slow periods)</a:t>
            </a:r>
          </a:p>
          <a:p>
            <a:pPr>
              <a:spcAft>
                <a:spcPts val="200"/>
              </a:spcAft>
              <a:defRPr sz="1100" b="1">
                <a:solidFill>
                  <a:srgbClr val="34495E"/>
                </a:solidFill>
              </a:defRPr>
            </a:pPr>
            <a:r>
              <a:t>👥 Target 16-25oz กลุ่มเป้าหมาย 16-25 ออนซ์</a:t>
            </a:r>
          </a:p>
          <a:p>
            <a:pPr>
              <a:spcAft>
                <a:spcPts val="800"/>
              </a:spcAft>
              <a:defRPr sz="900">
                <a:solidFill>
                  <a:srgbClr val="95A5A6"/>
                </a:solidFill>
              </a:defRPr>
            </a:pPr>
            <a:r>
              <a:t>   (Focus promotions on popular sizes for office/female demographic)</a:t>
            </a:r>
          </a:p>
          <a:p>
            <a:pPr>
              <a:spcAft>
                <a:spcPts val="200"/>
              </a:spcAft>
              <a:defRPr sz="1100" b="1">
                <a:solidFill>
                  <a:srgbClr val="34495E"/>
                </a:solidFill>
              </a:defRPr>
            </a:pPr>
            <a:r>
              <a:t>📱 Social Campaigns แคมเปญโซเชียล</a:t>
            </a:r>
          </a:p>
          <a:p>
            <a:pPr>
              <a:spcAft>
                <a:spcPts val="800"/>
              </a:spcAft>
              <a:defRPr sz="900">
                <a:solidFill>
                  <a:srgbClr val="95A5A6"/>
                </a:solidFill>
              </a:defRPr>
            </a:pPr>
            <a:r>
              <a:t>   (Leverage exclusive engraving/designs that performed well in Feb)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980B9"/>
                </a:solidFill>
              </a:defRPr>
            </a:pPr>
            <a:r>
              <a:t>Action Plan for April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5A5A6"/>
                </a:solidFill>
              </a:defRPr>
            </a:pPr>
            <a:r>
              <a:t>(แผนปฏิบัติการสำหรับเดือนเมษายน 2026)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7863840" cy="914400"/>
          </a:xfrm>
          <a:prstGeom prst="roundRect">
            <a:avLst/>
          </a:prstGeom>
          <a:solidFill>
            <a:srgbClr val="2980B9"/>
          </a:solidFill>
          <a:ln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Week 1-2 (สัปดาห์ 1-2): Promotion Design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• Design new exclusive giveaway items based on Feb success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• Create tiered promotion structure (฿1,200/฿1,500/฿1,800)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• Source new merch products for upselling opportunities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7863840" cy="914400"/>
          </a:xfrm>
          <a:prstGeom prst="roundRect">
            <a:avLst/>
          </a:prstGeom>
          <a:solidFill>
            <a:srgbClr val="3498DB"/>
          </a:solidFill>
          <a:ln>
            <a:solidFill>
              <a:srgbClr val="349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Week 2-3 (สัปดาห์ 2-3): Marketing Campaign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• Launch social media teaser campaign for new promotions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• Plan Songkran-themed special events and activities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• Prepare staff training on new upselling techniques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66160"/>
            <a:ext cx="7863840" cy="91440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Week 3-4 (สัปดาห์ 3-4): Execution &amp; Monitoring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• Launch new promotion campaign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• Monitor daily sales vs. target with adjusted benchmarks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• Gather customer feedback and adjust tactics in real-time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